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84" r:id="rId2"/>
  </p:sldMasterIdLst>
  <p:sldIdLst>
    <p:sldId id="256" r:id="rId3"/>
    <p:sldId id="277" r:id="rId4"/>
    <p:sldId id="285" r:id="rId5"/>
    <p:sldId id="286" r:id="rId6"/>
    <p:sldId id="287" r:id="rId7"/>
    <p:sldId id="278" r:id="rId8"/>
    <p:sldId id="288" r:id="rId9"/>
    <p:sldId id="284" r:id="rId10"/>
    <p:sldId id="289" r:id="rId11"/>
    <p:sldId id="290" r:id="rId12"/>
    <p:sldId id="291" r:id="rId13"/>
    <p:sldId id="280" r:id="rId14"/>
    <p:sldId id="292" r:id="rId15"/>
    <p:sldId id="28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" id="{A1475E66-2670-4D04-B49D-1EC821ADE659}">
          <p14:sldIdLst>
            <p14:sldId id="256"/>
            <p14:sldId id="277"/>
            <p14:sldId id="285"/>
            <p14:sldId id="286"/>
            <p14:sldId id="287"/>
            <p14:sldId id="278"/>
            <p14:sldId id="288"/>
            <p14:sldId id="284"/>
            <p14:sldId id="289"/>
            <p14:sldId id="290"/>
            <p14:sldId id="291"/>
            <p14:sldId id="280"/>
            <p14:sldId id="292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818"/>
    <a:srgbClr val="001642"/>
    <a:srgbClr val="680000"/>
    <a:srgbClr val="9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364" autoAdjust="0"/>
  </p:normalViewPr>
  <p:slideViewPr>
    <p:cSldViewPr snapToGrid="0">
      <p:cViewPr varScale="1">
        <p:scale>
          <a:sx n="78" d="100"/>
          <a:sy n="78" d="100"/>
        </p:scale>
        <p:origin x="715" y="5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7023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1673" y="328718"/>
            <a:ext cx="5667375" cy="9810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718" y="289071"/>
            <a:ext cx="8564341" cy="152179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050" name="Picture 2" descr="Sprintathon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2186" y="289071"/>
            <a:ext cx="1858942" cy="951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56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373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4620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9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690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575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5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775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48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800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980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74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617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554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9484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4723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614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746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98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768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9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DB75BAF-91F3-4868-A740-EF194D8D42C7}" type="datetimeFigureOut">
              <a:rPr lang="en-IN" smtClean="0"/>
              <a:pPr/>
              <a:t>07-03-2026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37272BB0-1C57-4CED-94BE-0091EFE8F56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701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2F958-D4CF-41A3-BE20-CFAD3B6B8926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1A5F3-3FC7-4431-9FC4-678FEC761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97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55889-0182-761B-B186-40B49637F001}"/>
              </a:ext>
            </a:extLst>
          </p:cNvPr>
          <p:cNvSpPr/>
          <p:nvPr/>
        </p:nvSpPr>
        <p:spPr>
          <a:xfrm>
            <a:off x="0" y="137221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089E38-D472-ED3E-1EA3-2EAC78AFD10E}"/>
              </a:ext>
            </a:extLst>
          </p:cNvPr>
          <p:cNvSpPr txBox="1"/>
          <p:nvPr/>
        </p:nvSpPr>
        <p:spPr>
          <a:xfrm>
            <a:off x="898632" y="2175582"/>
            <a:ext cx="11106133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Domain name </a:t>
            </a:r>
            <a:r>
              <a:rPr lang="en-IN" sz="2400" dirty="0"/>
              <a:t>: Software</a:t>
            </a:r>
          </a:p>
          <a:p>
            <a:pPr>
              <a:lnSpc>
                <a:spcPct val="150000"/>
              </a:lnSpc>
            </a:pP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b="1" dirty="0"/>
              <a:t>Problem Statement Title</a:t>
            </a:r>
            <a:r>
              <a:rPr lang="en-IN" sz="2400" dirty="0"/>
              <a:t>: Rural Awareness and Accessibility of Tamil Nadu Government Schemes (Problem 35)</a:t>
            </a:r>
          </a:p>
          <a:p>
            <a:endParaRPr lang="en-IN" sz="2400" dirty="0"/>
          </a:p>
          <a:p>
            <a:r>
              <a:rPr lang="en-IN" sz="2400" b="1" dirty="0"/>
              <a:t>Team Name:  </a:t>
            </a:r>
            <a:r>
              <a:rPr lang="en-IN" sz="2400" dirty="0"/>
              <a:t>Static Squad</a:t>
            </a:r>
          </a:p>
          <a:p>
            <a:endParaRPr lang="en-IN" sz="2400" dirty="0"/>
          </a:p>
          <a:p>
            <a:r>
              <a:rPr lang="en-IN" sz="2400" b="1" dirty="0"/>
              <a:t>Team Head: </a:t>
            </a:r>
            <a:r>
              <a:rPr lang="en-IN" sz="2400" dirty="0"/>
              <a:t>Jashwanth G</a:t>
            </a:r>
          </a:p>
          <a:p>
            <a:endParaRPr lang="en-IN" sz="2400" dirty="0"/>
          </a:p>
          <a:p>
            <a:r>
              <a:rPr lang="en-IN" sz="2400" b="1" dirty="0"/>
              <a:t>Project Title:  </a:t>
            </a:r>
            <a:r>
              <a:rPr lang="en-IN" sz="2400" dirty="0"/>
              <a:t>Thitta-Murasu (திட்ட முரசு - The Scheme Announcer)</a:t>
            </a:r>
          </a:p>
        </p:txBody>
      </p:sp>
    </p:spTree>
    <p:extLst>
      <p:ext uri="{BB962C8B-B14F-4D97-AF65-F5344CB8AC3E}">
        <p14:creationId xmlns:p14="http://schemas.microsoft.com/office/powerpoint/2010/main" val="2304177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55889-0182-761B-B186-40B49637F001}"/>
              </a:ext>
            </a:extLst>
          </p:cNvPr>
          <p:cNvSpPr/>
          <p:nvPr/>
        </p:nvSpPr>
        <p:spPr>
          <a:xfrm>
            <a:off x="0" y="137221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83844" y="1766801"/>
            <a:ext cx="5629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TITLE OF THE IDEA &amp;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903" y="2305497"/>
            <a:ext cx="1102748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The Idea: </a:t>
            </a:r>
            <a:r>
              <a:rPr lang="en-US" sz="2400" dirty="0"/>
              <a:t>"Thitta-Murasu" is a centralized, A capable dashboard designed exclusively for Panchayat officials to proactively identify and notify eligible scheme beneficiaries.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How it addresses the problem: </a:t>
            </a:r>
            <a:r>
              <a:rPr lang="en-US" sz="2400" dirty="0"/>
              <a:t>It bypasses the rural digital divide. Instead of expecting unconnected citizens to search for schemes, the local government uses this tool to push information directly to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Innovation &amp; Uniqueness: </a:t>
            </a:r>
            <a:r>
              <a:rPr lang="en-US" sz="2400" dirty="0"/>
              <a:t>Reverses the standard model from "citizen-seeking-scheme" to "scheme-seeking-citizen." It requires zero internet, smartphone, or digital literacy from the rural public.</a:t>
            </a:r>
          </a:p>
        </p:txBody>
      </p:sp>
    </p:spTree>
    <p:extLst>
      <p:ext uri="{BB962C8B-B14F-4D97-AF65-F5344CB8AC3E}">
        <p14:creationId xmlns:p14="http://schemas.microsoft.com/office/powerpoint/2010/main" val="2586312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F91E-0A5E-31F7-F327-6A85991E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3D032F-9059-8FA2-BD80-CA703ABED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C8989A-8768-2253-AB00-7F71CD81C1E3}"/>
              </a:ext>
            </a:extLst>
          </p:cNvPr>
          <p:cNvSpPr/>
          <p:nvPr/>
        </p:nvSpPr>
        <p:spPr>
          <a:xfrm>
            <a:off x="0" y="137221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FA510-8D53-9149-F6C9-BA4013D6A6CA}"/>
              </a:ext>
            </a:extLst>
          </p:cNvPr>
          <p:cNvSpPr txBox="1"/>
          <p:nvPr/>
        </p:nvSpPr>
        <p:spPr>
          <a:xfrm>
            <a:off x="491613" y="1813876"/>
            <a:ext cx="26033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OBJECTIVE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27F662-6A45-E485-1DBE-5251B8E5CEB9}"/>
              </a:ext>
            </a:extLst>
          </p:cNvPr>
          <p:cNvSpPr txBox="1"/>
          <p:nvPr/>
        </p:nvSpPr>
        <p:spPr>
          <a:xfrm>
            <a:off x="672903" y="2305497"/>
            <a:ext cx="110274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Proactive Digital Inclusion:</a:t>
            </a:r>
            <a:r>
              <a:rPr lang="en-US" sz="2400" dirty="0"/>
              <a:t> To empower rural citizens by providing timely access to government schemes without requiring them to have personal smartphones, internet connectivity, or digital literacy.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Intelligent Beneficiary Matching:</a:t>
            </a:r>
            <a:r>
              <a:rPr lang="en-US" sz="2400" dirty="0"/>
              <a:t> To equip Panchayat officials with an AI-driven, offline-first dashboard that instantly accurately filters citizen demographics against complex state scheme criteria.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Automated Grassroots Outreach:</a:t>
            </a:r>
            <a:r>
              <a:rPr lang="en-US" sz="2400" dirty="0"/>
              <a:t> To bridge the communication gap by delivering personalized eligibility alerts and application instructions directly to citizens' basic feature phones via localized Tamil SMS.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40898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9FF25-2990-AD22-8395-260C77C58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8B8142-C7C5-30AA-BA57-EE952F0E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274CF5-CF47-3997-98CB-3711338FA93F}"/>
              </a:ext>
            </a:extLst>
          </p:cNvPr>
          <p:cNvSpPr/>
          <p:nvPr/>
        </p:nvSpPr>
        <p:spPr>
          <a:xfrm>
            <a:off x="0" y="137221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2A3011-B6A4-967C-92CA-4DA6C2344732}"/>
              </a:ext>
            </a:extLst>
          </p:cNvPr>
          <p:cNvSpPr txBox="1"/>
          <p:nvPr/>
        </p:nvSpPr>
        <p:spPr>
          <a:xfrm>
            <a:off x="491613" y="1813876"/>
            <a:ext cx="3716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EXISTING SYSTEM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4F5655-FCF4-60C1-A476-2B5C2ECB7CA0}"/>
              </a:ext>
            </a:extLst>
          </p:cNvPr>
          <p:cNvSpPr txBox="1"/>
          <p:nvPr/>
        </p:nvSpPr>
        <p:spPr>
          <a:xfrm>
            <a:off x="672903" y="2305497"/>
            <a:ext cx="110274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Transactional &amp; Manual: </a:t>
            </a:r>
            <a:r>
              <a:rPr lang="en-US" sz="2800" dirty="0"/>
              <a:t>Citizens must actively search complex government portals (like e-</a:t>
            </a:r>
            <a:r>
              <a:rPr lang="en-US" sz="2800" dirty="0" err="1"/>
              <a:t>Sevai</a:t>
            </a:r>
            <a:r>
              <a:rPr lang="en-US" sz="2800" dirty="0"/>
              <a:t>) or read physical rulebooks to find schemes.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Digital Barrier: </a:t>
            </a:r>
            <a:r>
              <a:rPr lang="en-US" sz="2800" dirty="0"/>
              <a:t>Heavily relies on the user having a smartphone, active internet connection, and high digital literacy.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Awareness Gap: </a:t>
            </a:r>
            <a:r>
              <a:rPr lang="en-US" sz="2800" dirty="0"/>
              <a:t>If a rural citizen doesn't know a specific scheme exists (e.g., Pudhumai Penn), they will never apply for it, leaving government funds underutilized.</a:t>
            </a:r>
          </a:p>
        </p:txBody>
      </p:sp>
    </p:spTree>
    <p:extLst>
      <p:ext uri="{BB962C8B-B14F-4D97-AF65-F5344CB8AC3E}">
        <p14:creationId xmlns:p14="http://schemas.microsoft.com/office/powerpoint/2010/main" val="3399503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46048-3CA1-D895-0DED-6D9A355C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23E69F-8609-7B8A-5843-7D5CA9A22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9F5B63-7672-A983-31C5-CF59142D23C5}"/>
              </a:ext>
            </a:extLst>
          </p:cNvPr>
          <p:cNvSpPr/>
          <p:nvPr/>
        </p:nvSpPr>
        <p:spPr>
          <a:xfrm>
            <a:off x="0" y="137221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EB1319-9E99-9027-2495-A954C57ABB40}"/>
              </a:ext>
            </a:extLst>
          </p:cNvPr>
          <p:cNvSpPr txBox="1"/>
          <p:nvPr/>
        </p:nvSpPr>
        <p:spPr>
          <a:xfrm>
            <a:off x="491613" y="1813876"/>
            <a:ext cx="37165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PROPOSED SYSTEM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55EEB-510E-ABE2-905E-0310512C3A9C}"/>
              </a:ext>
            </a:extLst>
          </p:cNvPr>
          <p:cNvSpPr txBox="1"/>
          <p:nvPr/>
        </p:nvSpPr>
        <p:spPr>
          <a:xfrm>
            <a:off x="672903" y="2305497"/>
            <a:ext cx="1102748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/>
              <a:t>Predictive &amp; Automated: </a:t>
            </a:r>
            <a:r>
              <a:rPr lang="en-US" sz="2600" dirty="0"/>
              <a:t>A Hybrid ML model instantly cross-references a citizen's basic demographics against 100+ scheme rules to find exact matches.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/>
              <a:t>Zero Digital Barrier: </a:t>
            </a:r>
            <a:r>
              <a:rPr lang="en-US" sz="2600" dirty="0"/>
              <a:t>Runs as an offline-first kiosk for Panchayat officials. The citizen only needs a basic feature phone to receive the SMS alert.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dirty="0"/>
              <a:t>Proactive Outreach: </a:t>
            </a:r>
            <a:r>
              <a:rPr lang="en-US" sz="2600" dirty="0"/>
              <a:t>Reverses the model from "Citizen seeking Scheme" to "Scheme seeking Citizen," automatically notifying eligible people at the grassroots level.</a:t>
            </a:r>
          </a:p>
        </p:txBody>
      </p:sp>
    </p:spTree>
    <p:extLst>
      <p:ext uri="{BB962C8B-B14F-4D97-AF65-F5344CB8AC3E}">
        <p14:creationId xmlns:p14="http://schemas.microsoft.com/office/powerpoint/2010/main" val="315362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55889-0182-761B-B186-40B49637F001}"/>
              </a:ext>
            </a:extLst>
          </p:cNvPr>
          <p:cNvSpPr/>
          <p:nvPr/>
        </p:nvSpPr>
        <p:spPr>
          <a:xfrm>
            <a:off x="0" y="137221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-235975" y="1538324"/>
            <a:ext cx="49161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TECHNICAL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9436" y="1999989"/>
            <a:ext cx="1159312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Technologies Used: Python/Django (Backend and Frontend), Scikit-Learn, Twilio SMS API.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Domain-Based Filtering: The dashboard features a dynamic dropdown listing all government welfare domains (e.g., Agriculture, Women Welfare, Education).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Smart Prioritization Engine: The system cross-references the citizen's demographics against the selected domain's rule-set and instantly outputs the Top 3 prioritized schemes tailored to their profile.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Offline-to-SMS Workflow: An official reviews the Top 3 matches and uses a 1-click trigger to send an automated Tamil SMS with application instructions to the citizen's feature phone.</a:t>
            </a:r>
          </a:p>
        </p:txBody>
      </p:sp>
    </p:spTree>
    <p:extLst>
      <p:ext uri="{BB962C8B-B14F-4D97-AF65-F5344CB8AC3E}">
        <p14:creationId xmlns:p14="http://schemas.microsoft.com/office/powerpoint/2010/main" val="3994738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C3E8-FA91-CA32-707A-A67D175A4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4F15B1-0967-CF6C-234C-75F38F0A8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3BD803-AECA-6DCC-EC36-7AB730B38FAA}"/>
              </a:ext>
            </a:extLst>
          </p:cNvPr>
          <p:cNvSpPr/>
          <p:nvPr/>
        </p:nvSpPr>
        <p:spPr>
          <a:xfrm>
            <a:off x="0" y="137221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532297-6B64-D2D0-12A3-01A8DF69ACE6}"/>
              </a:ext>
            </a:extLst>
          </p:cNvPr>
          <p:cNvSpPr txBox="1"/>
          <p:nvPr/>
        </p:nvSpPr>
        <p:spPr>
          <a:xfrm>
            <a:off x="0" y="1596233"/>
            <a:ext cx="5299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TECHNICAL APPROACH - 2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C4DBF-DCF1-8533-267F-0564B83BF120}"/>
              </a:ext>
            </a:extLst>
          </p:cNvPr>
          <p:cNvSpPr txBox="1"/>
          <p:nvPr/>
        </p:nvSpPr>
        <p:spPr>
          <a:xfrm>
            <a:off x="316853" y="2236195"/>
            <a:ext cx="115931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Frontend Scale-up: </a:t>
            </a:r>
            <a:r>
              <a:rPr lang="en-US" sz="2400" dirty="0"/>
              <a:t>Transitioning to a component-based React.js architecture for a seamless, dynamic user experience.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Model Optimization: </a:t>
            </a:r>
            <a:r>
              <a:rPr lang="en-US" sz="2400" dirty="0"/>
              <a:t>Fine-tuning the Random Forest classifier with hyperparameter adjustments to increase prediction accuracy and handle edge-case demographics.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Batch Processing API: </a:t>
            </a:r>
            <a:r>
              <a:rPr lang="en-US" sz="2400" dirty="0"/>
              <a:t>Building a secure Python/Django endpoint utilizing pandas to process bulk Excel uploads and interface with the Twilio SMS Gateway for mass notifications.</a:t>
            </a:r>
          </a:p>
        </p:txBody>
      </p:sp>
    </p:spTree>
    <p:extLst>
      <p:ext uri="{BB962C8B-B14F-4D97-AF65-F5344CB8AC3E}">
        <p14:creationId xmlns:p14="http://schemas.microsoft.com/office/powerpoint/2010/main" val="1600128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34811-0ABC-769B-7D6A-C78386A91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00E374D-6586-6F97-7C9F-A4240B71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8AC27-4E26-B29E-F70D-442BCA5A985F}"/>
              </a:ext>
            </a:extLst>
          </p:cNvPr>
          <p:cNvSpPr/>
          <p:nvPr/>
        </p:nvSpPr>
        <p:spPr>
          <a:xfrm>
            <a:off x="0" y="1399112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266057-3891-4FE6-2A98-18BB1BD66676}"/>
              </a:ext>
            </a:extLst>
          </p:cNvPr>
          <p:cNvSpPr txBox="1"/>
          <p:nvPr/>
        </p:nvSpPr>
        <p:spPr>
          <a:xfrm>
            <a:off x="222069" y="1582327"/>
            <a:ext cx="4798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ARCHITECTURE DIAGRAM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B0EF8B-E496-0110-0B32-40C7E6D0B1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7" y="1525956"/>
            <a:ext cx="12192000" cy="533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82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D0D8A-7B28-8132-398B-A6034E39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D1C95F-F27B-44EF-F493-1D33CDAC8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DE4998-D88C-E2B7-20A7-A12E3D0D523B}"/>
              </a:ext>
            </a:extLst>
          </p:cNvPr>
          <p:cNvSpPr/>
          <p:nvPr/>
        </p:nvSpPr>
        <p:spPr>
          <a:xfrm>
            <a:off x="0" y="1399112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D20A1-CA4F-1E5D-7B40-FEB2212B7A9B}"/>
              </a:ext>
            </a:extLst>
          </p:cNvPr>
          <p:cNvSpPr txBox="1"/>
          <p:nvPr/>
        </p:nvSpPr>
        <p:spPr>
          <a:xfrm>
            <a:off x="-161390" y="1582786"/>
            <a:ext cx="6709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THE EVOLUTION OF THITTA-MURASU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773F4-F268-0B12-8068-D7E2FCA396DA}"/>
              </a:ext>
            </a:extLst>
          </p:cNvPr>
          <p:cNvSpPr txBox="1"/>
          <p:nvPr/>
        </p:nvSpPr>
        <p:spPr>
          <a:xfrm>
            <a:off x="966020" y="2411556"/>
            <a:ext cx="1069503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From Tool to Platform</a:t>
            </a:r>
            <a:r>
              <a:rPr lang="en-IN" sz="2400" dirty="0"/>
              <a:t>: Evolving the MVP into a comprehensive, bilingual web portal dedicated entirely to Tamil Nadu Scheme Awareness and Accessibility.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Dual-Persona Dashboard: </a:t>
            </a:r>
            <a:r>
              <a:rPr lang="en-IN" sz="2400" dirty="0"/>
              <a:t>For Citizens: A public-facing portal to explore domain-based schemes, check personal eligibility, and view step-by-step application guides.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/>
              <a:t>For Officials: </a:t>
            </a:r>
            <a:r>
              <a:rPr lang="en-IN" sz="2400" dirty="0"/>
              <a:t>A secure backend interface designed for bulk data processing and automated grassroots outreach.</a:t>
            </a:r>
          </a:p>
        </p:txBody>
      </p:sp>
    </p:spTree>
    <p:extLst>
      <p:ext uri="{BB962C8B-B14F-4D97-AF65-F5344CB8AC3E}">
        <p14:creationId xmlns:p14="http://schemas.microsoft.com/office/powerpoint/2010/main" val="1526123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16D54-49F7-66C3-C135-3390114D4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25458C-9D9A-6675-549D-6A6EB3B05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58513B-AADF-7543-FF31-5F3796C589F9}"/>
              </a:ext>
            </a:extLst>
          </p:cNvPr>
          <p:cNvSpPr/>
          <p:nvPr/>
        </p:nvSpPr>
        <p:spPr>
          <a:xfrm>
            <a:off x="0" y="1399112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860F54-2CAB-E7DA-E382-B5081CA9EF5C}"/>
              </a:ext>
            </a:extLst>
          </p:cNvPr>
          <p:cNvSpPr txBox="1"/>
          <p:nvPr/>
        </p:nvSpPr>
        <p:spPr>
          <a:xfrm>
            <a:off x="-515351" y="1589457"/>
            <a:ext cx="67096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FF0000"/>
                </a:solidFill>
              </a:rPr>
              <a:t>CORE MODULES &amp; FEATURES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3580ED-DC9B-54D1-A686-A4A0ED69F607}"/>
              </a:ext>
            </a:extLst>
          </p:cNvPr>
          <p:cNvSpPr txBox="1"/>
          <p:nvPr/>
        </p:nvSpPr>
        <p:spPr>
          <a:xfrm>
            <a:off x="765898" y="2195748"/>
            <a:ext cx="10695038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Domain-Based Scheme Directory: </a:t>
            </a:r>
            <a:r>
              <a:rPr lang="en-US" sz="2200" dirty="0"/>
              <a:t>A categorized, easily navigable repository of state schemes (e.g., Education, Agriculture, Women's Welfare).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The AI Eligibility Engine: </a:t>
            </a:r>
            <a:r>
              <a:rPr lang="en-US" sz="2200" dirty="0"/>
              <a:t>An upgraded, highly-tuned Hybrid ML checker where users input demographics to instantly discover their top prioritized schemes.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Actionable Application Guides: </a:t>
            </a:r>
            <a:r>
              <a:rPr lang="en-US" sz="2200" dirty="0"/>
              <a:t>Clear, localized instructions detailing exactly what documents are needed and where to apply for each specific scheme.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b="1" dirty="0"/>
              <a:t>Bulk Outreach Integration: </a:t>
            </a:r>
            <a:r>
              <a:rPr lang="en-US" sz="2200" dirty="0"/>
              <a:t>A dedicated module for Panchayat officials to upload citizen datasets (.xlsx/.csv), instantly cross-reference them against scheme rules, and trigger automated bulk SMS alerts to eligible candidates.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243350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C3EA-7DEF-5C4D-3608-CC4C0E764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28F2F-6AE2-0A55-21B0-E3D061E81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603A11-C974-5F6D-7CCB-CD2CCEAC79C4}"/>
              </a:ext>
            </a:extLst>
          </p:cNvPr>
          <p:cNvSpPr/>
          <p:nvPr/>
        </p:nvSpPr>
        <p:spPr>
          <a:xfrm>
            <a:off x="0" y="140807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C652C4-0E0B-A542-A084-739CA6321033}"/>
              </a:ext>
            </a:extLst>
          </p:cNvPr>
          <p:cNvSpPr txBox="1"/>
          <p:nvPr/>
        </p:nvSpPr>
        <p:spPr>
          <a:xfrm>
            <a:off x="222069" y="1510383"/>
            <a:ext cx="2041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3DE1D-1C47-CB43-8EB0-45DAFA801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243" b="30896"/>
          <a:stretch>
            <a:fillRect/>
          </a:stretch>
        </p:blipFill>
        <p:spPr>
          <a:xfrm>
            <a:off x="307089" y="2744306"/>
            <a:ext cx="4638537" cy="29915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9D4FD7-25B0-6E8B-5F2B-583C444C9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3440" y="1813978"/>
            <a:ext cx="6361471" cy="492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43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55889-0182-761B-B186-40B49637F001}"/>
              </a:ext>
            </a:extLst>
          </p:cNvPr>
          <p:cNvSpPr/>
          <p:nvPr/>
        </p:nvSpPr>
        <p:spPr>
          <a:xfrm>
            <a:off x="0" y="140807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471948" y="1459856"/>
            <a:ext cx="405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IMPACT AND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102" y="1972048"/>
            <a:ext cx="106680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Target Audience Impact: </a:t>
            </a:r>
            <a:r>
              <a:rPr lang="en-US" sz="2200" dirty="0"/>
              <a:t>Achieves 100% digital inclusion. Reaches the most vulnerable populations (BPL, elders) without them needing to navigate complex government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Social Benefits</a:t>
            </a:r>
            <a:r>
              <a:rPr lang="en-US" sz="2200" dirty="0"/>
              <a:t>: Maximizes the utilization of critical welfare programs (housing, education, maternal health) at the grassroots level.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Economic Benefits: </a:t>
            </a:r>
            <a:r>
              <a:rPr lang="en-US" sz="2200" dirty="0"/>
              <a:t>Prevents state fund underutilization and injects financial aid directly into the rural village economy.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Administrative Benefits: </a:t>
            </a:r>
            <a:r>
              <a:rPr lang="en-US" sz="2200" dirty="0"/>
              <a:t>Drastically reduces manual rulebook-checking and workload for local officers.</a:t>
            </a:r>
          </a:p>
        </p:txBody>
      </p:sp>
    </p:spTree>
    <p:extLst>
      <p:ext uri="{BB962C8B-B14F-4D97-AF65-F5344CB8AC3E}">
        <p14:creationId xmlns:p14="http://schemas.microsoft.com/office/powerpoint/2010/main" val="2028992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5B705-C75C-6441-7DDE-51141ABB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A7E8C0-0F15-267A-B487-EB73DF1D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B0A186-137D-E33B-2E33-893F7448AA5C}"/>
              </a:ext>
            </a:extLst>
          </p:cNvPr>
          <p:cNvSpPr/>
          <p:nvPr/>
        </p:nvSpPr>
        <p:spPr>
          <a:xfrm>
            <a:off x="0" y="140807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1D30F6-5825-CB14-2172-A065C1D4B75A}"/>
              </a:ext>
            </a:extLst>
          </p:cNvPr>
          <p:cNvSpPr txBox="1"/>
          <p:nvPr/>
        </p:nvSpPr>
        <p:spPr>
          <a:xfrm>
            <a:off x="471948" y="1459856"/>
            <a:ext cx="4057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FUTURE ROADMAP 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8A3FBB-F9DC-3279-5E65-6E8F1474BDED}"/>
              </a:ext>
            </a:extLst>
          </p:cNvPr>
          <p:cNvSpPr txBox="1"/>
          <p:nvPr/>
        </p:nvSpPr>
        <p:spPr>
          <a:xfrm>
            <a:off x="580102" y="1972048"/>
            <a:ext cx="1066800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Real-Time API Integration: </a:t>
            </a:r>
            <a:r>
              <a:rPr lang="en-US" sz="2200" dirty="0"/>
              <a:t>Transitioning from manual Excel uploads to a live REST API sync with the SFDB for zero-latency data processing.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Fully Automated Outreach: </a:t>
            </a:r>
            <a:r>
              <a:rPr lang="en-US" sz="2200" dirty="0"/>
              <a:t>Implementing self-triggering logic where the SMS Gateway dispatches alerts the moment a citizen becomes eligible, removing all manual intervention.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Voice-First Accessibility: </a:t>
            </a:r>
            <a:r>
              <a:rPr lang="en-US" sz="2200" dirty="0"/>
              <a:t>Deploying AI-Voice Bots (IVR) in local Tamil dialects to assist illiterate citizens and those without smartphones.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 dirty="0"/>
              <a:t>Predictive Budgeting: </a:t>
            </a:r>
            <a:r>
              <a:rPr lang="en-US" sz="2200" dirty="0"/>
              <a:t>Utilizing ML Match trends to forecast future scheme demand, enabling the government to allocate welfare funds with data-driven precision.</a:t>
            </a:r>
          </a:p>
        </p:txBody>
      </p:sp>
    </p:spTree>
    <p:extLst>
      <p:ext uri="{BB962C8B-B14F-4D97-AF65-F5344CB8AC3E}">
        <p14:creationId xmlns:p14="http://schemas.microsoft.com/office/powerpoint/2010/main" val="903220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069" y="117567"/>
            <a:ext cx="11782697" cy="1573122"/>
          </a:xfrm>
        </p:spPr>
        <p:txBody>
          <a:bodyPr/>
          <a:lstStyle/>
          <a:p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5B55889-0182-761B-B186-40B49637F001}"/>
              </a:ext>
            </a:extLst>
          </p:cNvPr>
          <p:cNvSpPr/>
          <p:nvPr/>
        </p:nvSpPr>
        <p:spPr>
          <a:xfrm>
            <a:off x="0" y="1408077"/>
            <a:ext cx="12192000" cy="45719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1299879" y="3360961"/>
            <a:ext cx="93591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33227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585</TotalTime>
  <Words>950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Rockwell</vt:lpstr>
      <vt:lpstr>Rockwell Condensed</vt:lpstr>
      <vt:lpstr>Wingdings</vt:lpstr>
      <vt:lpstr>Wood Type</vt:lpstr>
      <vt:lpstr>Custom Design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VELTECH</dc:creator>
  <cp:lastModifiedBy>Jashwanth G</cp:lastModifiedBy>
  <cp:revision>89</cp:revision>
  <dcterms:created xsi:type="dcterms:W3CDTF">2022-01-19T10:20:54Z</dcterms:created>
  <dcterms:modified xsi:type="dcterms:W3CDTF">2026-03-07T06:48:50Z</dcterms:modified>
</cp:coreProperties>
</file>